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91695" cy="54864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Course Assistant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200" b="0">
                <a:solidFill>
                  <a:srgbClr val="BBCCDD"/>
                </a:solidFill>
                <a:latin typeface="Calibri"/>
              </a:defRPr>
            </a:pPr>
            <a:r>
              <a:t>A Retrieval-Augmented Generation System for Enhancing</a:t>
            </a:r>
            <a:br/>
            <a:r>
              <a:t>Student Learning in Tertiary Institutions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0">
                <a:solidFill>
                  <a:srgbClr val="DDDDAA"/>
                </a:solidFill>
                <a:latin typeface="Calibri"/>
              </a:defRPr>
            </a:pPr>
            <a:r>
              <a:t>Kwara State University, Malete  —  Computer Science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Group 3  |  B.Sc. Computer Science  |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Supervisor:  Dr. ...  |  Project Defense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54864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  Introduction &amp; Problem Statement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  Objectives of the Study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  Literature Review / Related Work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  System Architecture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  System Design (OOADM)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  Implementation Highlights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  Testing &amp; Results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8.   Discussion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9.   Conclusion &amp; Future Work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10.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Students struggle with course materials outside class hours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Lecturers face repetitive questions from large classes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Existing chatbots lack course-specific RAG capabilities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Manual academic support is slow and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1645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No intelligent system exists at KWASU for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context-aware academic Q&amp;A using lecture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materials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Existing LMS platforms are static — no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interactive Q&amp;A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303520" cy="1645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RAG-based chatbot that ingests PDFs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(lecture notes, textbooks, handouts)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Answers questions with source citations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Hybrid OCR for scanned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5303520" cy="25603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840480"/>
            <a:ext cx="475488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0D2B4E"/>
                </a:solidFill>
                <a:latin typeface="Calibri"/>
              </a:defRPr>
            </a:pPr>
            <a:r>
              <a:t>Key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75488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Large class sizes limit lecturer availability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Students need 24/7 academic support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Repetitive questions waste lecturer time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Scanned PDFs are not searchable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Course content needs citation-backed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Objectives of the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A5C8A"/>
                </a:solidFill>
                <a:latin typeface="Calibri"/>
              </a:defRPr>
            </a:pPr>
            <a:r>
              <a:t>Aim: Design and implement an AI chatbot for course assistance using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1.  Design an intelligent system using Object-Oriented Analysis and Design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Methodology (OOADM) for modularity and maintainability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2.  Build a scalable web application using FastAPI (backend) and React with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TypeScript (frontend) for real-time interaction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3.  Implement a hybrid OCR pipeline that handles typed, scanned, and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handwritten PDF documents using pdfplumber + Tesseract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4.  Integrate a Large Language Model with Retrieval-Augmented Generation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(RAG) for context-aware answers with source citations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5.  Evaluate the system's accuracy, latency, and usability through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multi-level testing and user acceptance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Literature Review /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Theoretical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2377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Bloom's Taxonomy (1956) — cognitive learning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levels guiding Q&amp;A design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Constructivism — students build knowledge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through interactive inquiry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Human-Computer Interaction (HCI) Theory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— usability and user satisfaction focus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AI Theory — simulating human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Existing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ChatGPT — general knowledge, no course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context, no document upload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Khan Academy — structured content, no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free-form file upload or custom PDFs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EduBot — rule-based, limited to FAQ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patterns, no RAG or OCR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10972800" cy="20116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4241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000" b="1">
                <a:solidFill>
                  <a:srgbClr val="0D2B4E"/>
                </a:solidFill>
                <a:latin typeface="Calibri"/>
              </a:defRPr>
            </a:pPr>
            <a:r>
              <a:t>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424160" cy="7315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No existing system combines:  PDF upload  →  Hybrid OCR (digital + scanned)  →  Semantic chunking  →  Pinecone vector search  →  LLM answer with citations</a:t>
            </a:r>
            <a:br/>
            <a:r>
              <a:t>for Nigerian tertiary institution course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424160" cy="4572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[Theoretical Framework Diagram]  —  Bloom's Taxonomy levels mapped to RAG pipeline 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 — RAG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828800" cy="118872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  <a:br/>
            <a:r>
              <a:t>(React Frontend)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63040"/>
            <a:ext cx="1828800" cy="11887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60020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1828800" cy="1188720"/>
          </a:xfrm>
          <a:prstGeom prst="rect">
            <a:avLst/>
          </a:prstGeom>
          <a:solidFill>
            <a:srgbClr val="17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0020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PDF → OCR</a:t>
            </a:r>
            <a:br/>
            <a:r>
              <a:t>pdfplumber / Tesseract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108960"/>
            <a:ext cx="1828800" cy="1188720"/>
          </a:xfrm>
          <a:prstGeom prst="rect">
            <a:avLst/>
          </a:prstGeom>
          <a:solidFill>
            <a:srgbClr val="17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24612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Chunking</a:t>
            </a:r>
            <a:br/>
            <a:r>
              <a:t>512 tokens / 64 overlap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463040"/>
            <a:ext cx="1828800" cy="11887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60020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OpenAI</a:t>
            </a:r>
            <a:br/>
            <a:r>
              <a:t>Embeddings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463040"/>
            <a:ext cx="1828800" cy="11887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0020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Pinecone</a:t>
            </a:r>
            <a:br/>
            <a:r>
              <a:t>Vector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108960"/>
            <a:ext cx="1828800" cy="118872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246120"/>
            <a:ext cx="1737360" cy="9144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GPT-4o-mini</a:t>
            </a:r>
            <a:br/>
            <a:r>
              <a:t>Response +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1828800"/>
            <a:ext cx="3657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200" b="1">
                <a:solidFill>
                  <a:srgbClr val="D49B1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28800"/>
            <a:ext cx="3657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200" b="1">
                <a:solidFill>
                  <a:srgbClr val="D49B1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651760"/>
            <a:ext cx="3657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200" b="1">
                <a:solidFill>
                  <a:srgbClr val="D49B1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828800"/>
            <a:ext cx="3657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200" b="1">
                <a:solidFill>
                  <a:srgbClr val="D49B1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828800"/>
            <a:ext cx="3657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200" b="1">
                <a:solidFill>
                  <a:srgbClr val="D49B1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51760"/>
            <a:ext cx="36576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200" b="1">
                <a:solidFill>
                  <a:srgbClr val="D49B1C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600" b="1">
                <a:solidFill>
                  <a:srgbClr val="0D2B4E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Frontend:  React 18 + TypeScript, Tailwind CSS, Vercel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Backend:   FastAPI, SQLAlchemy async, Alembic, Render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Database:  PostgreSQL (Supabase) + Pinecone vector DB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AI:        OpenAI text-embedding-3-small, GPT-4o-mini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OCR:       Tesseract 5.3.3 + pdfplumber 0.11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Auth:      JWT httpOnly cookies, bcrypt, RBAC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Design — OOADM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A5C8A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657600" cy="22860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[Use Case Diagram Placeholder]</a:t>
            </a:r>
            <a:br/>
            <a:br/>
            <a:r>
              <a:t>Actors:  Student, Lecturer, Admin</a:t>
            </a:r>
            <a:br/>
            <a:br/>
            <a:r>
              <a:t>Use Cases:</a:t>
            </a:r>
            <a:br/>
            <a:r>
              <a:t>• Upload Document</a:t>
            </a:r>
            <a:br/>
            <a:r>
              <a:t>• Ask Question</a:t>
            </a:r>
            <a:br/>
            <a:r>
              <a:t>• View History</a:t>
            </a:r>
            <a:br/>
            <a:r>
              <a:t>• Manage Courses</a:t>
            </a:r>
            <a:br/>
            <a:r>
              <a:t>• Manage Users</a:t>
            </a:r>
            <a:br/>
            <a:r>
              <a:t>• View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6576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A5C8A"/>
                </a:solidFill>
                <a:latin typeface="Calibri"/>
              </a:defRPr>
            </a:pPr>
            <a:r>
              <a:t>Class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657600" cy="22860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[Class Diagram Placeholder]</a:t>
            </a:r>
            <a:br/>
            <a:br/>
            <a:r>
              <a:t>Core Classes:</a:t>
            </a:r>
            <a:br/>
            <a:r>
              <a:t>• User  (Student/Lecturer/Admin)</a:t>
            </a:r>
            <a:br/>
            <a:r>
              <a:t>• Course</a:t>
            </a:r>
            <a:br/>
            <a:r>
              <a:t>• Document</a:t>
            </a:r>
            <a:br/>
            <a:r>
              <a:t>• Chunk</a:t>
            </a:r>
            <a:br/>
            <a:r>
              <a:t>• Conversation</a:t>
            </a:r>
            <a:br/>
            <a:r>
              <a:t>•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38328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A5C8A"/>
                </a:solidFill>
                <a:latin typeface="Calibri"/>
              </a:defRPr>
            </a:pPr>
            <a:r>
              <a:t>Database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3383280" cy="22860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[Schema Placeholder]</a:t>
            </a:r>
            <a:br/>
            <a:br/>
            <a:r>
              <a:t>• users</a:t>
            </a:r>
            <a:br/>
            <a:r>
              <a:t>• courses</a:t>
            </a:r>
            <a:br/>
            <a:r>
              <a:t>• documents</a:t>
            </a:r>
            <a:br/>
            <a:r>
              <a:t>• chunks</a:t>
            </a:r>
            <a:br/>
            <a:r>
              <a:t>• conversations</a:t>
            </a:r>
            <a:br/>
            <a:r>
              <a:t>• messages</a:t>
            </a:r>
            <a:br/>
            <a:r>
              <a:t>• refresh_tokens</a:t>
            </a:r>
            <a:br/>
            <a:r>
              <a:t>• roles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0972800" cy="22860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7432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0D2B4E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058400" cy="1645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JWT httpOnly, SameSite, Secure cookies (XSS protection)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bcrypt password hashing (cost factor 12)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RBAC: Student / Lecturer / Admin — enforced via FastAPI dependencies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Rate limiting: 20 req/min chat, 100/hr global (slowapi)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Supabase Row-Level Security (RLS) for file access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Input validation, CORS restrictions, request ID tracing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Implementation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700" b="1">
                <a:solidFill>
                  <a:srgbClr val="1A5C8A"/>
                </a:solidFill>
                <a:latin typeface="Calibri"/>
              </a:defRPr>
            </a:pPr>
            <a:r>
              <a:t>Frontend (React + TypeScript)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React 18, Tailwind CSS, React Router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Axios interceptors with token refresh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SSE streaming for real-time responses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PDF preview with page navigation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Responsive (375px – 1920px)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4747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700" b="1">
                <a:solidFill>
                  <a:srgbClr val="1A5C8A"/>
                </a:solidFill>
                <a:latin typeface="Calibri"/>
              </a:defRPr>
            </a:pPr>
            <a:r>
              <a:t>Backend (FastAPI + 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SQLAlchemy async + Alembic migrations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SSE streaming via StreamingResponse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Hybrid OCR pipeline (text-density heuristic)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Semantic chunking with tiktoken (512 tok)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BackgroundTasks for async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38328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700" b="1">
                <a:solidFill>
                  <a:srgbClr val="1A5C8A"/>
                </a:solidFill>
                <a:latin typeface="Calibri"/>
              </a:defRPr>
            </a:pPr>
            <a:r>
              <a:t>AI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3383280" cy="21945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OpenAI text-embedding-3-small (1536d)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Pinecone serverless index, cosine sim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GPT-4o-mini with source-injected prompt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Course-isolated namespaces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Top-5 chunk retrieval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0972800" cy="2377440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700" b="1">
                <a:solidFill>
                  <a:srgbClr val="0D2B4E"/>
                </a:solidFill>
                <a:latin typeface="Calibri"/>
              </a:defRPr>
            </a:pPr>
            <a:r>
              <a:t>Authentication &amp; 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058400" cy="1645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FastAPI OAuth2 password flow + JWT access/refresh tokens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httpOnly cookies (XSS-safe) — access token: 60 min, refresh: 7 days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bcrypt hashing (passlib, cost 12) — ~250ms per hash on deployment hardware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Role-Based Access Control:  Student (enrol, chat) | Lecturer (upload docs) | Admin (manage users)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Supabase Row-Level Security for storage buckets + PostgreSQL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700" b="1">
                <a:solidFill>
                  <a:srgbClr val="1A5C8A"/>
                </a:solidFill>
                <a:latin typeface="Calibri"/>
              </a:defRPr>
            </a:pPr>
            <a:r>
              <a:t>Testing Strategy (4 levels — 100% pass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486400" cy="1645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Unit:  15 tests — text processing, auth, docs, chat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Integration:  10 tests — upload pipeline, chat, concurrency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System:  16 end-to-end scenarios — full stack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UAT:  5 users, 23 questions — 82.6% relevant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700" b="1">
                <a:solidFill>
                  <a:srgbClr val="1A5C8A"/>
                </a:solidFill>
                <a:latin typeface="Calibri"/>
              </a:defRPr>
            </a:pPr>
            <a:r>
              <a:t>Key Performance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E2E latency:  2.1s first token, 4.8s total (digital PDFs)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OCR accuracy:  typed &gt;95%, scanned &gt;90%,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handwritten ~70%, equations ~40%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Retrieval MRR:  0.88 average across query types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System response:  &lt;3s for 82% of queries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UAT satisfaction:  4.2 / 5 average rating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500" b="1">
                <a:solidFill>
                  <a:srgbClr val="0D2B4E"/>
                </a:solidFill>
                <a:latin typeface="Calibri"/>
              </a:defRPr>
            </a:pPr>
            <a:r>
              <a:t>Document Processing Times (10 pages)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1">
                <a:solidFill>
                  <a:srgbClr val="0D2B4E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8912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1">
                <a:solidFill>
                  <a:srgbClr val="0D2B4E"/>
                </a:solidFill>
                <a:latin typeface="Calibri"/>
              </a:defRPr>
            </a:pPr>
            <a:r>
              <a:t>Digital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38912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1">
                <a:solidFill>
                  <a:srgbClr val="0D2B4E"/>
                </a:solidFill>
                <a:latin typeface="Calibri"/>
              </a:defRPr>
            </a:pPr>
            <a:r>
              <a:t>Scanned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Processing (total)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70916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4.2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0916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18.7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First token (query)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98348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2.1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98348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2.3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Full response (~150 tok)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25780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8.4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25780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9.1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Embedding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53212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1.8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53212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2.0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Pinecone p95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80644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210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806440"/>
            <a:ext cx="3200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210 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78C8C"/>
                </a:solidFill>
                <a:latin typeface="Calibri"/>
              </a:defRPr>
            </a:pPr>
            <a:r>
              <a:t>All 5 objectives successfully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A5C8A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30352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Text-density heuristic effectively routes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documents — saves API costs on digital PDFs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Namespaced Pinecone indexes enable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multi-course document isolation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Hybrid OCR approach handles real-world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mixed-format (digital + scanned) documents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SSE streaming provides responsive UX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despite LLM latency (~2.1s first 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B03A2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30352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Handwriting OCR accuracy ~70% — limited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usability for handwritten lecture notes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Equation OCR accuracy ~40% — significant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limitation for STEM courses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Cold start latency (~5s) after inactivity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on free-tier hosting (Render sleep)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English-only processing — no multi-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language support yet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Single-LLM dependency on OpenAI — vendor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lock-in and cost considerations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54880"/>
            <a:ext cx="10972800" cy="16459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600" b="1">
                <a:solidFill>
                  <a:srgbClr val="0D2B4E"/>
                </a:solidFill>
                <a:latin typeface="Calibri"/>
              </a:defRPr>
            </a:pPr>
            <a:r>
              <a:t>Contributions to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Practical RAG implementation tailored for Nigerian tertiary education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Hybrid OCR pipeline integrated with RAG — scanned page detection heuristic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Comprehensive evaluation framework (unit → integration → system → UAT)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Open blueprint for institutions to build course-specific AI assistants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058400" cy="5029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Course Assistant Chatbot  |  KWASU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731520" cy="32004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1800" b="1">
                <a:solidFill>
                  <a:srgbClr val="178C8C"/>
                </a:solidFill>
                <a:latin typeface="Calibri"/>
              </a:defRPr>
            </a:pPr>
            <a:r>
              <a:t>Successfully built a course-specific RAG chatbot for Nigerian tertiary education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30352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RAG effectively grounds answers in course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materials — no hallucination on out-of-scope Qs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Hybrid OCR + semantic chunking handles real-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world mixed-format documents reliably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RBAC ensures appropriate access control for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students, lecturers, and administrators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Multi-level testing confirms correctness,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performance, and usability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30352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  Multi-language support (Yoruba, Hausa, Igbo)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  Image/chart/diagram understanding with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multimodal models (GPT-4V / CLIP)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3.  Real-time collaborative document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annotation for study groups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4.  Offline mode with local LLMs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(Llama, Mistral via Ollama)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5.  Analytics dashboard for lecturers: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FAQ trends, student knowledge gaps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6.  Fine-tuned embedding models 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     Nigerian educational corpora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D49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800" b="0">
                <a:solidFill>
                  <a:srgbClr val="BBCCDD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13716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2000" b="0">
                <a:solidFill>
                  <a:srgbClr val="CCDDEE"/>
                </a:solidFill>
                <a:latin typeface="Calibri"/>
              </a:defRPr>
            </a:pPr>
            <a:r>
              <a:t>AI Course Assistant Chatbot</a:t>
            </a:r>
            <a:br/>
            <a:r>
              <a:t>Kwara State University, Malete</a:t>
            </a:r>
            <a:br/>
            <a:r>
              <a:t>Computer Science Department — Group 3</a:t>
            </a:r>
            <a:br/>
            <a:r>
              <a:t>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 anchor="TOP (1)"/>
          <a:lstStyle/>
          <a:p>
            <a:pPr algn="ctr">
              <a:defRPr sz="1400" b="0">
                <a:solidFill>
                  <a:srgbClr val="99AABB"/>
                </a:solidFill>
                <a:latin typeface="Calibri"/>
              </a:defRPr>
            </a:pPr>
            <a:r>
              <a:t>Project Repository:  github.com/.../ai-course-assistant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